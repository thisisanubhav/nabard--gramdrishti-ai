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E932C"/>
                </a:solidFill>
                <a:latin typeface="Calibri"/>
              </a:rPr>
              <a:t>NABARD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Georgia"/>
              </a:rPr>
              <a:t>GramDrishti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8F2EC"/>
                </a:solidFill>
                <a:latin typeface="Calibri"/>
              </a:rPr>
              <a:t>AI-powered foresight for rural enterprises</a:t>
            </a:r>
          </a:p>
        </p:txBody>
      </p:sp>
      <p:pic>
        <p:nvPicPr>
          <p:cNvPr id="6" name="Picture 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931920"/>
            <a:ext cx="4754880" cy="251460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822960" y="4343400"/>
            <a:ext cx="1188720" cy="31750"/>
          </a:xfrm>
          <a:prstGeom prst="rect">
            <a:avLst/>
          </a:prstGeom>
          <a:solidFill>
            <a:srgbClr val="FE9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E932C"/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646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LoneWolf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8F2EC"/>
                </a:solidFill>
                <a:latin typeface="Calibri"/>
              </a:rPr>
              <a:t>Anubhav Harsh Sinha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8F2EC"/>
                </a:solidFill>
                <a:latin typeface="Calibri"/>
              </a:rPr>
              <a:t>Predicting cash-flow risk before it becomes a default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C6B66"/>
                </a:solidFill>
                <a:latin typeface="Calibri"/>
              </a:rPr>
              <a:t>THE PROBLEM  →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C2321"/>
                </a:solidFill>
                <a:latin typeface="Georgia"/>
              </a:rPr>
              <a:t>Four real problems. Four specific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08792" cy="45720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508760"/>
            <a:ext cx="36393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508760"/>
            <a:ext cx="66842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9087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65960"/>
            <a:ext cx="3639312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C2321"/>
                </a:solidFill>
                <a:latin typeface="Calibri"/>
              </a:rPr>
              <a:t>Risk scores are a black box — no idea why, or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965960"/>
            <a:ext cx="6684264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E7A4C"/>
                </a:solidFill>
                <a:latin typeface="Calibri"/>
              </a:rPr>
              <a:t>SHAP-explained drivers + a concrete, sector-specific 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36392"/>
            <a:ext cx="10908792" cy="1170432"/>
          </a:xfrm>
          <a:prstGeom prst="rect">
            <a:avLst/>
          </a:prstGeom>
          <a:solidFill>
            <a:srgbClr val="ECE8DC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136392"/>
            <a:ext cx="3639312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C2321"/>
                </a:solidFill>
                <a:latin typeface="Calibri"/>
              </a:rPr>
              <a:t>A field officer can't manually track hundreds of enterprises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136392"/>
            <a:ext cx="6684264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E7A4C"/>
                </a:solidFill>
                <a:latin typeface="Calibri"/>
              </a:rPr>
              <a:t>Portfolio dashboard: risk distribution, district/sector/climate breakdown, prioritized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06824"/>
            <a:ext cx="1090879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4306824"/>
            <a:ext cx="3639312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C2321"/>
                </a:solidFill>
                <a:latin typeface="Calibri"/>
              </a:rPr>
              <a:t>Risk is discovered only after a loan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4306824"/>
            <a:ext cx="6684264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E7A4C"/>
                </a:solidFill>
                <a:latin typeface="Calibri"/>
              </a:rPr>
              <a:t>6-month AI forecast + risk score, recalculated live on every transaction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77256"/>
            <a:ext cx="10908792" cy="1170432"/>
          </a:xfrm>
          <a:prstGeom prst="rect">
            <a:avLst/>
          </a:prstGeom>
          <a:solidFill>
            <a:srgbClr val="ECE8DC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5477256"/>
            <a:ext cx="3639312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C2321"/>
                </a:solidFill>
                <a:latin typeface="Calibri"/>
              </a:rPr>
              <a:t>Built for cities, not villages — no offline support, no Hindi, no climate 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5477256"/>
            <a:ext cx="6684264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E7A4C"/>
                </a:solidFill>
                <a:latin typeface="Calibri"/>
              </a:rPr>
              <a:t>Offline-first, bilingual, real rainfall/flood/drought data feeding the risk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SOLVING PROBLEM 1  ·  THE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2321"/>
                </a:solidFill>
                <a:latin typeface="Georgia"/>
              </a:rPr>
              <a:t>A risk score you can act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00">
                <a:solidFill>
                  <a:srgbClr val="1C2321"/>
                </a:solidFill>
                <a:latin typeface="Calibri"/>
              </a:rPr>
              <a:t>•  LightGBM forecasting + SHAP-based explainability — every score comes with its real drivers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00">
                <a:solidFill>
                  <a:srgbClr val="1C2321"/>
                </a:solidFill>
                <a:latin typeface="Calibri"/>
              </a:rPr>
              <a:t>•  “Missed loan repayments — 45%, Loan default on record — 34%, Expenses as share of income — 21%”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00">
                <a:solidFill>
                  <a:srgbClr val="1C2321"/>
                </a:solidFill>
                <a:latin typeface="Calibri"/>
              </a:rPr>
              <a:t>•  Paired with a concrete recommendation (“Talk to your lender early”) — not a diagnosis without a next step</a:t>
            </a:r>
          </a:p>
        </p:txBody>
      </p:sp>
      <p:pic>
        <p:nvPicPr>
          <p:cNvPr id="6" name="Picture 5" descr="03-enterpris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7240"/>
            <a:ext cx="5781368" cy="548640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C6B66"/>
                </a:solidFill>
                <a:latin typeface="Calibri"/>
              </a:rPr>
              <a:t>ARCHITECTURE &amp; HOW IT WORKS</a:t>
            </a:r>
          </a:p>
        </p:txBody>
      </p:sp>
      <p:pic>
        <p:nvPicPr>
          <p:cNvPr id="4" name="Picture 3" descr="09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777240"/>
            <a:ext cx="8778240" cy="585216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SOLVING PROBLEM 2  ·  FIELD OFFICER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C2321"/>
                </a:solidFill>
                <a:latin typeface="Georgia"/>
              </a:rPr>
              <a:t>Manage risk across the entire portfolio</a:t>
            </a:r>
          </a:p>
        </p:txBody>
      </p:sp>
      <p:pic>
        <p:nvPicPr>
          <p:cNvPr id="5" name="Picture 4" descr="02-offic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315200" cy="502920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0" y="1920240"/>
            <a:ext cx="34591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See all 60 enterprises at a glance — total count and a live high/medium/low risk breakdown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Risk by District and Average Risk by Sector — know exactly where to prioritize a visit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Prioritized intervention list, filterable by sector and risk level, with the AI-driven main factor for each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Real climate risk flags (flood/drought) surfaced automatically for affected enterprises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SOLVING PROBLEM 3  ·  ENTERPRISE OWNER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C2321"/>
                </a:solidFill>
                <a:latin typeface="Georgia"/>
              </a:rPr>
              <a:t>A personal financial co-pilot</a:t>
            </a:r>
          </a:p>
        </p:txBody>
      </p:sp>
      <p:pic>
        <p:nvPicPr>
          <p:cNvPr id="5" name="Picture 4" descr="04-own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189784" cy="502920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104184" y="1920240"/>
            <a:ext cx="458459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Real KPI cards with month-over-month trend deltas — cash balance, income, expenses, savings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6-month cash-flow forecast with a confidence band, plus a live financial risk score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Risk history timeline shows whether things are improving or worsening over time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500">
                <a:solidFill>
                  <a:srgbClr val="1C2321"/>
                </a:solidFill>
                <a:latin typeface="Calibri"/>
              </a:rPr>
              <a:t>•  Recommendations and transaction entry, right on the same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EXTENDING PROBLEM 3  ·  FROM FORECAST TO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C2321"/>
                </a:solidFill>
                <a:latin typeface="Georgia"/>
              </a:rPr>
              <a:t>Planning, not just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1C2321"/>
                </a:solidFill>
                <a:latin typeface="Calibri"/>
              </a:rPr>
              <a:t>•  Entrepreneurs drag income/expense sliders and watch the 6-month forecast and risk level update live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1C2321"/>
                </a:solidFill>
                <a:latin typeface="Calibri"/>
              </a:rPr>
              <a:t>•  Turns a static report into a self-service planning tool — “what if my income drops 20%?” answered in real time</a:t>
            </a:r>
          </a:p>
        </p:txBody>
      </p:sp>
      <p:pic>
        <p:nvPicPr>
          <p:cNvPr id="6" name="Picture 5" descr="05-owner-simulator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777240"/>
            <a:ext cx="6067486" cy="548640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SOLVING PROBLEM 4  ·  BUILT FOR REAL RURAL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E8F2EC"/>
                </a:solidFill>
                <a:latin typeface="Calibri"/>
              </a:rPr>
              <a:t>•  Offline-first: transactions queue with no signal and auto-sync when reconnected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E8F2EC"/>
                </a:solidFill>
                <a:latin typeface="Calibri"/>
              </a:rPr>
              <a:t>•  Fully bilingual — English and Hindi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>
                <a:solidFill>
                  <a:srgbClr val="E8F2EC"/>
                </a:solidFill>
                <a:latin typeface="Calibri"/>
              </a:rPr>
              <a:t>•  Real rainfall/flood/drought data tied to sector and state, feeding directly into risk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Earlier warning → fewer defaults → a stronger rural credit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E932C"/>
                </a:solidFill>
                <a:latin typeface="Calibri"/>
              </a:rPr>
              <a:t>GramDrishti AI — AI-powered foresight for rural enterprises.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E932C"/>
                </a:solidFill>
                <a:latin typeface="Calibri"/>
              </a:rPr>
              <a:t>NABARD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E8F2EC"/>
                </a:solidFill>
                <a:latin typeface="Calibri"/>
              </a:rPr>
              <a:t>GramDrishti AI — AI-powered foresight for rural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ENTERPRISES MONITORED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SECTORS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657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E932C"/>
                </a:solidFill>
                <a:latin typeface="Calibri"/>
              </a:rPr>
              <a:t>FORECAST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657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6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09160"/>
            <a:ext cx="1188720" cy="31750"/>
          </a:xfrm>
          <a:prstGeom prst="rect">
            <a:avLst/>
          </a:prstGeom>
          <a:solidFill>
            <a:srgbClr val="FE9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E932C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303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LoneWolf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8F2EC"/>
                </a:solidFill>
                <a:latin typeface="Calibri"/>
              </a:rPr>
              <a:t>Anubhav Harsh Sinha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806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1">
                <a:solidFill>
                  <a:srgbClr val="FE932C"/>
                </a:solidFill>
                <a:latin typeface="Calibri"/>
              </a:rPr>
              <a:t>Submitted for the NABARD 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C6B66"/>
                </a:solidFill>
                <a:latin typeface="Calibri"/>
              </a:rPr>
              <a:t>APPENDIX  ·  TECHNICAL DEEP DIVE</a:t>
            </a:r>
          </a:p>
        </p:txBody>
      </p:sp>
      <p:pic>
        <p:nvPicPr>
          <p:cNvPr id="4" name="Picture 3" descr="08-technical-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731520"/>
            <a:ext cx="10241280" cy="5760720"/>
          </a:xfrm>
          <a:prstGeom prst="rect">
            <a:avLst/>
          </a:prstGeom>
          <a:ln w="19050">
            <a:solidFill>
              <a:srgbClr val="1E7A4C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Anubhav Harsh Sinha</cp:lastModifiedBy>
  <cp:revision>2</cp:revision>
  <dcterms:created xsi:type="dcterms:W3CDTF">2013-01-27T09:14:16Z</dcterms:created>
  <dcterms:modified xsi:type="dcterms:W3CDTF">2026-07-17T17:56:45Z</dcterms:modified>
  <cp:category/>
</cp:coreProperties>
</file>